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Canva Sans Bold" charset="1" panose="020B0803030501040103"/>
      <p:regular r:id="rId8"/>
    </p:embeddedFont>
    <p:embeddedFont>
      <p:font typeface="Canva Sans" charset="1" panose="020B0503030501040103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linkedin.com/in/olatomiwaaluko/overlay/about-this-profile/" TargetMode="External" Type="http://schemas.openxmlformats.org/officeDocument/2006/relationships/hyperlink"/><Relationship Id="rId11" Target="https://www.linkedin.com/in/olatomiwaaluko/overlay/about-this-profile/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7.jpeg" Type="http://schemas.openxmlformats.org/officeDocument/2006/relationships/image"/><Relationship Id="rId9" Target="https://www.linkedin.com/in/olatomiwaaluko/overlay/about-this-profile/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33220" y="-1525449"/>
            <a:ext cx="7038665" cy="4884727"/>
          </a:xfrm>
          <a:custGeom>
            <a:avLst/>
            <a:gdLst/>
            <a:ahLst/>
            <a:cxnLst/>
            <a:rect r="r" b="b" t="t" l="l"/>
            <a:pathLst>
              <a:path h="4884727" w="7038665">
                <a:moveTo>
                  <a:pt x="0" y="0"/>
                </a:moveTo>
                <a:lnTo>
                  <a:pt x="7038665" y="0"/>
                </a:lnTo>
                <a:lnTo>
                  <a:pt x="7038665" y="4884727"/>
                </a:lnTo>
                <a:lnTo>
                  <a:pt x="0" y="48847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657" b="-14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70070">
            <a:off x="11654629" y="5165837"/>
            <a:ext cx="6791904" cy="6846899"/>
          </a:xfrm>
          <a:custGeom>
            <a:avLst/>
            <a:gdLst/>
            <a:ahLst/>
            <a:cxnLst/>
            <a:rect r="r" b="b" t="t" l="l"/>
            <a:pathLst>
              <a:path h="6846899" w="6791904">
                <a:moveTo>
                  <a:pt x="0" y="0"/>
                </a:moveTo>
                <a:lnTo>
                  <a:pt x="6791904" y="0"/>
                </a:lnTo>
                <a:lnTo>
                  <a:pt x="6791904" y="6846899"/>
                </a:lnTo>
                <a:lnTo>
                  <a:pt x="0" y="68468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8691" t="-10556" r="-10466" b="-4750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050656">
            <a:off x="-547657" y="8193904"/>
            <a:ext cx="2227829" cy="3343834"/>
          </a:xfrm>
          <a:custGeom>
            <a:avLst/>
            <a:gdLst/>
            <a:ahLst/>
            <a:cxnLst/>
            <a:rect r="r" b="b" t="t" l="l"/>
            <a:pathLst>
              <a:path h="3343834" w="2227829">
                <a:moveTo>
                  <a:pt x="0" y="0"/>
                </a:moveTo>
                <a:lnTo>
                  <a:pt x="2227829" y="0"/>
                </a:lnTo>
                <a:lnTo>
                  <a:pt x="2227829" y="3343834"/>
                </a:lnTo>
                <a:lnTo>
                  <a:pt x="0" y="3343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5947" y="7656163"/>
            <a:ext cx="1602137" cy="1602137"/>
          </a:xfrm>
          <a:custGeom>
            <a:avLst/>
            <a:gdLst/>
            <a:ahLst/>
            <a:cxnLst/>
            <a:rect r="r" b="b" t="t" l="l"/>
            <a:pathLst>
              <a:path h="1602137" w="1602137">
                <a:moveTo>
                  <a:pt x="0" y="0"/>
                </a:moveTo>
                <a:lnTo>
                  <a:pt x="1602137" y="0"/>
                </a:lnTo>
                <a:lnTo>
                  <a:pt x="1602137" y="1602137"/>
                </a:lnTo>
                <a:lnTo>
                  <a:pt x="0" y="16021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5947" y="5609115"/>
            <a:ext cx="1602137" cy="1602137"/>
          </a:xfrm>
          <a:custGeom>
            <a:avLst/>
            <a:gdLst/>
            <a:ahLst/>
            <a:cxnLst/>
            <a:rect r="r" b="b" t="t" l="l"/>
            <a:pathLst>
              <a:path h="1602137" w="1602137">
                <a:moveTo>
                  <a:pt x="0" y="0"/>
                </a:moveTo>
                <a:lnTo>
                  <a:pt x="1602137" y="0"/>
                </a:lnTo>
                <a:lnTo>
                  <a:pt x="1602137" y="1602137"/>
                </a:lnTo>
                <a:lnTo>
                  <a:pt x="0" y="16021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5947" y="3359278"/>
            <a:ext cx="1602137" cy="1602137"/>
          </a:xfrm>
          <a:custGeom>
            <a:avLst/>
            <a:gdLst/>
            <a:ahLst/>
            <a:cxnLst/>
            <a:rect r="r" b="b" t="t" l="l"/>
            <a:pathLst>
              <a:path h="1602137" w="1602137">
                <a:moveTo>
                  <a:pt x="0" y="0"/>
                </a:moveTo>
                <a:lnTo>
                  <a:pt x="1602137" y="0"/>
                </a:lnTo>
                <a:lnTo>
                  <a:pt x="1602137" y="1602137"/>
                </a:lnTo>
                <a:lnTo>
                  <a:pt x="0" y="16021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5947" y="1309466"/>
            <a:ext cx="1602137" cy="1602137"/>
          </a:xfrm>
          <a:custGeom>
            <a:avLst/>
            <a:gdLst/>
            <a:ahLst/>
            <a:cxnLst/>
            <a:rect r="r" b="b" t="t" l="l"/>
            <a:pathLst>
              <a:path h="1602137" w="1602137">
                <a:moveTo>
                  <a:pt x="0" y="0"/>
                </a:moveTo>
                <a:lnTo>
                  <a:pt x="1602137" y="0"/>
                </a:lnTo>
                <a:lnTo>
                  <a:pt x="1602137" y="1602137"/>
                </a:lnTo>
                <a:lnTo>
                  <a:pt x="0" y="16021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17719" y="6843948"/>
            <a:ext cx="8496294" cy="3443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0"/>
              </a:lnSpc>
            </a:pPr>
          </a:p>
          <a:p>
            <a:pPr algn="l">
              <a:lnSpc>
                <a:spcPts val="3950"/>
              </a:lnSpc>
            </a:pPr>
          </a:p>
          <a:p>
            <a:pPr algn="l">
              <a:lnSpc>
                <a:spcPts val="3950"/>
              </a:lnSpc>
            </a:pPr>
            <a:r>
              <a:rPr lang="en-US" sz="28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Aridsondez Jerome</a:t>
            </a:r>
          </a:p>
          <a:p>
            <a:pPr algn="l">
              <a:lnSpc>
                <a:spcPts val="3950"/>
              </a:lnSpc>
            </a:pPr>
            <a:r>
              <a:rPr lang="en-US" sz="28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(Computer Science)</a:t>
            </a:r>
          </a:p>
          <a:p>
            <a:pPr algn="l">
              <a:lnSpc>
                <a:spcPts val="3950"/>
              </a:lnSpc>
            </a:pPr>
          </a:p>
          <a:p>
            <a:pPr algn="l">
              <a:lnSpc>
                <a:spcPts val="3950"/>
              </a:lnSpc>
              <a:spcBef>
                <a:spcPct val="0"/>
              </a:spcBef>
            </a:pPr>
          </a:p>
          <a:p>
            <a:pPr algn="l">
              <a:lnSpc>
                <a:spcPts val="3950"/>
              </a:lnSpc>
              <a:spcBef>
                <a:spcPct val="0"/>
              </a:spcBef>
            </a:pPr>
            <a:r>
              <a:rPr lang="en-US" sz="2821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9" tooltip="https://www.linkedin.com/in/olatomiwaaluko/overlay/about-this-profile/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17719" y="5882614"/>
            <a:ext cx="3417689" cy="1461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0"/>
              </a:lnSpc>
            </a:pPr>
            <a:r>
              <a:rPr lang="en-US" sz="28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Anthony Terry</a:t>
            </a:r>
          </a:p>
          <a:p>
            <a:pPr algn="ctr">
              <a:lnSpc>
                <a:spcPts val="3950"/>
              </a:lnSpc>
              <a:spcBef>
                <a:spcPct val="0"/>
              </a:spcBef>
            </a:pPr>
            <a:r>
              <a:rPr lang="en-US" sz="28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(C</a:t>
            </a:r>
            <a:r>
              <a:rPr lang="en-US" sz="28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omputer Science)</a:t>
            </a:r>
          </a:p>
          <a:p>
            <a:pPr algn="ctr">
              <a:lnSpc>
                <a:spcPts val="395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393783" y="1261841"/>
            <a:ext cx="4101257" cy="1461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0"/>
              </a:lnSpc>
            </a:pPr>
          </a:p>
          <a:p>
            <a:pPr algn="ctr">
              <a:lnSpc>
                <a:spcPts val="3950"/>
              </a:lnSpc>
              <a:spcBef>
                <a:spcPct val="0"/>
              </a:spcBef>
            </a:pPr>
            <a:r>
              <a:rPr lang="en-US" b="true" sz="28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10" tooltip="https://www.linkedin.com/in/olatomiwaaluko/overlay/about-this-profile/"/>
              </a:rPr>
              <a:t>Olat</a:t>
            </a:r>
            <a:r>
              <a:rPr lang="en-US" b="true" sz="28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11" tooltip="https://www.linkedin.com/in/olatomiwaaluko/overlay/about-this-profile/"/>
              </a:rPr>
              <a:t>omiwa Aluko</a:t>
            </a:r>
          </a:p>
          <a:p>
            <a:pPr algn="ctr">
              <a:lnSpc>
                <a:spcPts val="3950"/>
              </a:lnSpc>
              <a:spcBef>
                <a:spcPct val="0"/>
              </a:spcBef>
            </a:pPr>
            <a:r>
              <a:rPr lang="en-US" sz="28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(Computer Engineering)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93783" y="3572228"/>
            <a:ext cx="4101257" cy="1461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0"/>
              </a:lnSpc>
              <a:spcBef>
                <a:spcPct val="0"/>
              </a:spcBef>
            </a:pPr>
            <a:r>
              <a:rPr lang="en-US" b="true" sz="28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Schneidine D</a:t>
            </a:r>
            <a:r>
              <a:rPr lang="en-US" b="true" sz="28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orelien</a:t>
            </a:r>
          </a:p>
          <a:p>
            <a:pPr algn="ctr">
              <a:lnSpc>
                <a:spcPts val="3950"/>
              </a:lnSpc>
              <a:spcBef>
                <a:spcPct val="0"/>
              </a:spcBef>
            </a:pPr>
            <a:r>
              <a:rPr lang="en-US" sz="28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(Computer Science)</a:t>
            </a:r>
          </a:p>
          <a:p>
            <a:pPr algn="ctr">
              <a:lnSpc>
                <a:spcPts val="39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2237" y="-1413663"/>
            <a:ext cx="7038665" cy="4884727"/>
          </a:xfrm>
          <a:custGeom>
            <a:avLst/>
            <a:gdLst/>
            <a:ahLst/>
            <a:cxnLst/>
            <a:rect r="r" b="b" t="t" l="l"/>
            <a:pathLst>
              <a:path h="4884727" w="7038665">
                <a:moveTo>
                  <a:pt x="0" y="0"/>
                </a:moveTo>
                <a:lnTo>
                  <a:pt x="7038665" y="0"/>
                </a:lnTo>
                <a:lnTo>
                  <a:pt x="7038665" y="4884726"/>
                </a:lnTo>
                <a:lnTo>
                  <a:pt x="0" y="48847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657" b="-14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7529" y="1940276"/>
            <a:ext cx="8033405" cy="7872737"/>
          </a:xfrm>
          <a:custGeom>
            <a:avLst/>
            <a:gdLst/>
            <a:ahLst/>
            <a:cxnLst/>
            <a:rect r="r" b="b" t="t" l="l"/>
            <a:pathLst>
              <a:path h="7872737" w="8033405">
                <a:moveTo>
                  <a:pt x="0" y="0"/>
                </a:moveTo>
                <a:lnTo>
                  <a:pt x="8033405" y="0"/>
                </a:lnTo>
                <a:lnTo>
                  <a:pt x="8033405" y="7872737"/>
                </a:lnTo>
                <a:lnTo>
                  <a:pt x="0" y="78727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35656" y="2035190"/>
            <a:ext cx="8033405" cy="7872737"/>
          </a:xfrm>
          <a:custGeom>
            <a:avLst/>
            <a:gdLst/>
            <a:ahLst/>
            <a:cxnLst/>
            <a:rect r="r" b="b" t="t" l="l"/>
            <a:pathLst>
              <a:path h="7872737" w="8033405">
                <a:moveTo>
                  <a:pt x="0" y="0"/>
                </a:moveTo>
                <a:lnTo>
                  <a:pt x="8033405" y="0"/>
                </a:lnTo>
                <a:lnTo>
                  <a:pt x="8033405" y="7872737"/>
                </a:lnTo>
                <a:lnTo>
                  <a:pt x="0" y="78727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61728" y="2323395"/>
            <a:ext cx="1485007" cy="47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0"/>
              </a:lnSpc>
              <a:spcBef>
                <a:spcPct val="0"/>
              </a:spcBef>
            </a:pPr>
            <a:r>
              <a:rPr lang="en-US" b="true" sz="28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3865" y="3423438"/>
            <a:ext cx="7520732" cy="136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3"/>
              </a:lnSpc>
              <a:spcBef>
                <a:spcPct val="0"/>
              </a:spcBef>
            </a:pPr>
            <a:r>
              <a:rPr lang="en-US" b="true" sz="19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</a:t>
            </a:r>
            <a:r>
              <a:rPr lang="en-US" b="true" sz="19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oters face </a:t>
            </a:r>
            <a:r>
              <a:rPr lang="en-US" b="true" sz="195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three</a:t>
            </a:r>
            <a:r>
              <a:rPr lang="en-US" b="true" sz="19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critical barriers when evaluating candidates:</a:t>
            </a:r>
          </a:p>
          <a:p>
            <a:pPr algn="l">
              <a:lnSpc>
                <a:spcPts val="2743"/>
              </a:lnSpc>
              <a:spcBef>
                <a:spcPct val="0"/>
              </a:spcBef>
            </a:pPr>
          </a:p>
          <a:p>
            <a:pPr algn="l">
              <a:lnSpc>
                <a:spcPts val="2743"/>
              </a:lnSpc>
              <a:spcBef>
                <a:spcPct val="0"/>
              </a:spcBef>
            </a:pPr>
          </a:p>
          <a:p>
            <a:pPr algn="l">
              <a:lnSpc>
                <a:spcPts val="274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35569" y="3933299"/>
            <a:ext cx="5182027" cy="5011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8"/>
              </a:lnSpc>
            </a:pPr>
          </a:p>
          <a:p>
            <a:pPr algn="ctr">
              <a:lnSpc>
                <a:spcPts val="2548"/>
              </a:lnSpc>
              <a:spcBef>
                <a:spcPct val="0"/>
              </a:spcBef>
            </a:pPr>
            <a:r>
              <a:rPr lang="en-US" sz="1820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Information Overload</a:t>
            </a:r>
            <a:r>
              <a:rPr lang="en-US" sz="18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Campaign promises, voting records, and funding s</a:t>
            </a:r>
            <a:r>
              <a:rPr lang="en-US" sz="18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ources are scattered across partisan outlets and inaccessible government databases</a:t>
            </a:r>
          </a:p>
          <a:p>
            <a:pPr algn="ctr">
              <a:lnSpc>
                <a:spcPts val="2548"/>
              </a:lnSpc>
              <a:spcBef>
                <a:spcPct val="0"/>
              </a:spcBef>
            </a:pPr>
          </a:p>
          <a:p>
            <a:pPr algn="ctr">
              <a:lnSpc>
                <a:spcPts val="2548"/>
              </a:lnSpc>
              <a:spcBef>
                <a:spcPct val="0"/>
              </a:spcBef>
            </a:pPr>
            <a:r>
              <a:rPr lang="en-US" sz="1820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Hidden Contradictions</a:t>
            </a:r>
            <a:r>
              <a:rPr lang="en-US" sz="18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Politicians say one thing on the campaign trail but vote differently in office, with no accountability mechanism</a:t>
            </a:r>
          </a:p>
          <a:p>
            <a:pPr algn="ctr">
              <a:lnSpc>
                <a:spcPts val="2548"/>
              </a:lnSpc>
              <a:spcBef>
                <a:spcPct val="0"/>
              </a:spcBef>
            </a:pPr>
          </a:p>
          <a:p>
            <a:pPr algn="ctr">
              <a:lnSpc>
                <a:spcPts val="2548"/>
              </a:lnSpc>
              <a:spcBef>
                <a:spcPct val="0"/>
              </a:spcBef>
            </a:pPr>
            <a:r>
              <a:rPr lang="en-US" sz="1820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Obscured Influence</a:t>
            </a:r>
            <a:r>
              <a:rPr lang="en-US" sz="18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Donor relationships and their connection to policy decisions remain invisible to average citizens</a:t>
            </a:r>
          </a:p>
          <a:p>
            <a:pPr algn="ctr">
              <a:lnSpc>
                <a:spcPts val="2548"/>
              </a:lnSpc>
              <a:spcBef>
                <a:spcPct val="0"/>
              </a:spcBef>
            </a:pPr>
          </a:p>
          <a:p>
            <a:pPr algn="ctr">
              <a:lnSpc>
                <a:spcPts val="2548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09936" y="2323395"/>
            <a:ext cx="1482626" cy="47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0"/>
              </a:lnSpc>
              <a:spcBef>
                <a:spcPct val="0"/>
              </a:spcBef>
            </a:pPr>
            <a:r>
              <a:rPr lang="en-US" b="true" sz="28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18862" y="3018258"/>
            <a:ext cx="6066994" cy="624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3"/>
              </a:lnSpc>
            </a:pPr>
            <a:r>
              <a:rPr lang="en-US" sz="21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non-partisan AI platform that transforms complex political data into clear, searchable insights.</a:t>
            </a:r>
          </a:p>
          <a:p>
            <a:pPr algn="ctr">
              <a:lnSpc>
                <a:spcPts val="2983"/>
              </a:lnSpc>
            </a:pPr>
            <a:r>
              <a:rPr lang="en-US" sz="21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Core Functionality: Users ask natural language questions like "Show me my district's candidates' stances on affordable housing"</a:t>
            </a:r>
          </a:p>
          <a:p>
            <a:pPr algn="ctr">
              <a:lnSpc>
                <a:spcPts val="2983"/>
              </a:lnSpc>
            </a:pPr>
            <a:r>
              <a:rPr lang="en-US" sz="21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Platform Returns:</a:t>
            </a:r>
          </a:p>
          <a:p>
            <a:pPr algn="ctr" marL="460098" indent="-230049" lvl="1">
              <a:lnSpc>
                <a:spcPts val="2983"/>
              </a:lnSpc>
              <a:buFont typeface="Arial"/>
              <a:buChar char="•"/>
            </a:pPr>
            <a:r>
              <a:rPr lang="en-US" sz="21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Comprehensive voting records with bill citations</a:t>
            </a:r>
          </a:p>
          <a:p>
            <a:pPr algn="ctr" marL="460098" indent="-230049" lvl="1">
              <a:lnSpc>
                <a:spcPts val="2983"/>
              </a:lnSpc>
              <a:buFont typeface="Arial"/>
              <a:buChar char="•"/>
            </a:pPr>
            <a:r>
              <a:rPr lang="en-US" sz="21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Public statements from speeches and interviews with timestamps</a:t>
            </a:r>
          </a:p>
          <a:p>
            <a:pPr algn="ctr" marL="460098" indent="-230049" lvl="1">
              <a:lnSpc>
                <a:spcPts val="2983"/>
              </a:lnSpc>
              <a:buFont typeface="Arial"/>
              <a:buChar char="•"/>
            </a:pPr>
            <a:r>
              <a:rPr lang="en-US" sz="21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Campaign finance data showing donor relationships</a:t>
            </a:r>
          </a:p>
          <a:p>
            <a:pPr algn="ctr" marL="460098" indent="-230049" lvl="1">
              <a:lnSpc>
                <a:spcPts val="2983"/>
              </a:lnSpc>
              <a:buFont typeface="Arial"/>
              <a:buChar char="•"/>
            </a:pPr>
            <a:r>
              <a:rPr lang="en-US" sz="21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Automated contradiction detection flagging inconsistencies between promises and votes</a:t>
            </a:r>
          </a:p>
          <a:p>
            <a:pPr algn="ctr">
              <a:lnSpc>
                <a:spcPts val="2983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2050656">
            <a:off x="-547657" y="8193904"/>
            <a:ext cx="2227829" cy="3343834"/>
          </a:xfrm>
          <a:custGeom>
            <a:avLst/>
            <a:gdLst/>
            <a:ahLst/>
            <a:cxnLst/>
            <a:rect r="r" b="b" t="t" l="l"/>
            <a:pathLst>
              <a:path h="3343834" w="2227829">
                <a:moveTo>
                  <a:pt x="0" y="0"/>
                </a:moveTo>
                <a:lnTo>
                  <a:pt x="2227829" y="0"/>
                </a:lnTo>
                <a:lnTo>
                  <a:pt x="2227829" y="3343834"/>
                </a:lnTo>
                <a:lnTo>
                  <a:pt x="0" y="3343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DAG-Q8DP3a0</dc:identifier>
  <dcterms:modified xsi:type="dcterms:W3CDTF">2011-08-01T06:04:30Z</dcterms:modified>
  <cp:revision>1</cp:revision>
  <dc:title>CIVICS LENS</dc:title>
</cp:coreProperties>
</file>